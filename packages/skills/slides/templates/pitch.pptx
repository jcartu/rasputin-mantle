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777240"/>
            <a:ext cx="5212080" cy="731520"/>
          </a:xfrm>
          <a:prstGeom prst="rect">
            <a:avLst/>
          </a:prstGeom>
          <a:noFill/>
        </p:spPr>
        <p:txBody>
          <a:bodyPr wrap="none" lIns="0" rIns="0" anchor="t">
            <a:spAutoFit/>
          </a:bodyPr>
          <a:lstStyle/>
          <a:p>
            <a:r>
              <a:rPr sz="3400" b="1">
                <a:solidFill>
                  <a:srgbClr val="3B2416"/>
                </a:solidFill>
                <a:latin typeface="Inter"/>
              </a:rPr>
              <a:t>Pitch Template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572768"/>
            <a:ext cx="4754880" cy="411480"/>
          </a:xfrm>
          <a:prstGeom prst="rect">
            <a:avLst/>
          </a:prstGeom>
          <a:noFill/>
        </p:spPr>
        <p:txBody>
          <a:bodyPr wrap="none" lIns="0" rIns="0" anchor="t">
            <a:spAutoFit/>
          </a:bodyPr>
          <a:lstStyle/>
          <a:p>
            <a:r>
              <a:rPr sz="1700" b="0">
                <a:solidFill>
                  <a:srgbClr val="7C4A2D"/>
                </a:solidFill>
                <a:latin typeface="Inter"/>
              </a:rPr>
              <a:t>Warm investor storytelling deck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2148840"/>
            <a:ext cx="2057400" cy="384048"/>
          </a:xfrm>
          <a:prstGeom prst="roundRect">
            <a:avLst/>
          </a:prstGeom>
          <a:solidFill>
            <a:srgbClr val="FFEDD5"/>
          </a:solidFill>
          <a:ln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EA580C"/>
                </a:solidFill>
                <a:latin typeface="Inter"/>
              </a:rPr>
              <a:t>Presentation Template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0" y="685800"/>
            <a:ext cx="5257800" cy="4206240"/>
          </a:xfrm>
          <a:prstGeom prst="rect">
            <a:avLst/>
          </a:prstGeom>
          <a:solidFill>
            <a:srgbClr val="FFEDD5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7C4A2D"/>
                </a:solidFill>
                <a:latin typeface="Inter"/>
              </a:rPr>
              <a:t>Hero image placeholder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46520"/>
            <a:ext cx="10104120" cy="2743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10528"/>
            <a:ext cx="4572000" cy="228600"/>
          </a:xfrm>
          <a:prstGeom prst="rect">
            <a:avLst/>
          </a:prstGeom>
          <a:noFill/>
        </p:spPr>
        <p:txBody>
          <a:bodyPr wrap="none" lIns="0" rIns="0" anchor="t">
            <a:spAutoFit/>
          </a:bodyPr>
          <a:lstStyle/>
          <a:p>
            <a:r>
              <a:rPr sz="800" b="0">
                <a:solidFill>
                  <a:srgbClr val="7C4A2D"/>
                </a:solidFill>
                <a:latin typeface="Inter"/>
              </a:rPr>
              <a:t>Title slide · image + subtitle layout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5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1280160" cy="457200"/>
          </a:xfrm>
          <a:prstGeom prst="rect">
            <a:avLst/>
          </a:prstGeom>
          <a:noFill/>
        </p:spPr>
        <p:txBody>
          <a:bodyPr wrap="none" lIns="0" rIns="0" anchor="t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Inter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331720"/>
            <a:ext cx="7680960" cy="822960"/>
          </a:xfrm>
          <a:prstGeom prst="rect">
            <a:avLst/>
          </a:prstGeom>
          <a:noFill/>
        </p:spPr>
        <p:txBody>
          <a:bodyPr wrap="none" lIns="0" rIns="0" anchor="t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Inter"/>
              </a:rPr>
              <a:t>Section Divider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18688"/>
            <a:ext cx="6766560" cy="502920"/>
          </a:xfrm>
          <a:prstGeom prst="rect">
            <a:avLst/>
          </a:prstGeom>
          <a:noFill/>
        </p:spPr>
        <p:txBody>
          <a:bodyPr wrap="none" lIns="0" rIns="0" anchor="t">
            <a:spAutoFit/>
          </a:bodyPr>
          <a:lstStyle/>
          <a:p>
            <a:r>
              <a:rPr sz="1800" b="0">
                <a:solidFill>
                  <a:srgbClr val="FFFFFF"/>
                </a:solidFill>
                <a:latin typeface="Inter"/>
              </a:rPr>
              <a:t>Use this slide to reset context and introduce the next narrative arc.</a:t>
            </a:r>
          </a:p>
        </p:txBody>
      </p:sp>
      <p:sp>
        <p:nvSpPr>
          <p:cNvPr id="5" name="Rectangle 4"/>
          <p:cNvSpPr/>
          <p:nvPr/>
        </p:nvSpPr>
        <p:spPr>
          <a:xfrm>
            <a:off x="9509760" y="0"/>
            <a:ext cx="2697480" cy="685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315200" cy="502920"/>
          </a:xfrm>
          <a:prstGeom prst="rect">
            <a:avLst/>
          </a:prstGeom>
          <a:noFill/>
        </p:spPr>
        <p:txBody>
          <a:bodyPr wrap="none" lIns="0" rIns="0" anchor="t">
            <a:spAutoFit/>
          </a:bodyPr>
          <a:lstStyle/>
          <a:p>
            <a:r>
              <a:rPr sz="2600" b="1">
                <a:solidFill>
                  <a:srgbClr val="3B2416"/>
                </a:solidFill>
                <a:latin typeface="Inter"/>
              </a:rPr>
              <a:t>Two-Column Content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25880"/>
            <a:ext cx="4389120" cy="365760"/>
          </a:xfrm>
          <a:prstGeom prst="rect">
            <a:avLst/>
          </a:prstGeom>
          <a:noFill/>
        </p:spPr>
        <p:txBody>
          <a:bodyPr wrap="none" lIns="0" rIns="0" anchor="t">
            <a:spAutoFit/>
          </a:bodyPr>
          <a:lstStyle/>
          <a:p>
            <a:r>
              <a:rPr sz="1600" b="1">
                <a:solidFill>
                  <a:srgbClr val="EA580C"/>
                </a:solidFill>
                <a:latin typeface="Inter"/>
              </a:rPr>
              <a:t>Left narrative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83080"/>
            <a:ext cx="4480560" cy="2286000"/>
          </a:xfrm>
          <a:prstGeom prst="rect">
            <a:avLst/>
          </a:prstGeom>
          <a:noFill/>
        </p:spPr>
        <p:txBody>
          <a:bodyPr wrap="none" lIns="0" rIns="0" anchor="t">
            <a:spAutoFit/>
          </a:bodyPr>
          <a:lstStyle/>
          <a:p>
            <a:r>
              <a:rPr sz="1500" b="0">
                <a:solidFill>
                  <a:srgbClr val="3B2416"/>
                </a:solidFill>
                <a:latin typeface="Inter"/>
              </a:rPr>
              <a:t>• Key insight with supporting detail</a:t>
            </a:r>
            <a:br/>
            <a:r>
              <a:t>• Evidence point or customer quote</a:t>
            </a:r>
            <a:br/>
            <a:r>
              <a:t>• Decision implication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325880"/>
            <a:ext cx="4389120" cy="365760"/>
          </a:xfrm>
          <a:prstGeom prst="rect">
            <a:avLst/>
          </a:prstGeom>
          <a:noFill/>
        </p:spPr>
        <p:txBody>
          <a:bodyPr wrap="none" lIns="0" rIns="0" anchor="t">
            <a:spAutoFit/>
          </a:bodyPr>
          <a:lstStyle/>
          <a:p>
            <a:r>
              <a:rPr sz="1600" b="1">
                <a:solidFill>
                  <a:srgbClr val="EA580C"/>
                </a:solidFill>
                <a:latin typeface="Inter"/>
              </a:rPr>
              <a:t>Right narrative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783080"/>
            <a:ext cx="4480560" cy="2286000"/>
          </a:xfrm>
          <a:prstGeom prst="rect">
            <a:avLst/>
          </a:prstGeom>
          <a:noFill/>
        </p:spPr>
        <p:txBody>
          <a:bodyPr wrap="none" lIns="0" rIns="0" anchor="t">
            <a:spAutoFit/>
          </a:bodyPr>
          <a:lstStyle/>
          <a:p>
            <a:r>
              <a:rPr sz="1500" b="0">
                <a:solidFill>
                  <a:srgbClr val="3B2416"/>
                </a:solidFill>
                <a:latin typeface="Inter"/>
              </a:rPr>
              <a:t>• Counterpoint or operational risk</a:t>
            </a:r>
            <a:br/>
            <a:r>
              <a:t>• Quantified metric or benchmark</a:t>
            </a:r>
            <a:br/>
            <a:r>
              <a:t>• Recommended next action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0104120" cy="2743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510528"/>
            <a:ext cx="4572000" cy="228600"/>
          </a:xfrm>
          <a:prstGeom prst="rect">
            <a:avLst/>
          </a:prstGeom>
          <a:noFill/>
        </p:spPr>
        <p:txBody>
          <a:bodyPr wrap="none" lIns="0" rIns="0" anchor="t">
            <a:spAutoFit/>
          </a:bodyPr>
          <a:lstStyle/>
          <a:p>
            <a:r>
              <a:rPr sz="800" b="0">
                <a:solidFill>
                  <a:srgbClr val="7C4A2D"/>
                </a:solidFill>
                <a:latin typeface="Inter"/>
              </a:rPr>
              <a:t>Two-column content layout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315200" cy="502920"/>
          </a:xfrm>
          <a:prstGeom prst="rect">
            <a:avLst/>
          </a:prstGeom>
          <a:noFill/>
        </p:spPr>
        <p:txBody>
          <a:bodyPr wrap="none" lIns="0" rIns="0" anchor="t">
            <a:spAutoFit/>
          </a:bodyPr>
          <a:lstStyle/>
          <a:p>
            <a:r>
              <a:rPr sz="2600" b="1">
                <a:solidFill>
                  <a:srgbClr val="3B2416"/>
                </a:solidFill>
                <a:latin typeface="Inter"/>
              </a:rPr>
              <a:t>Chart Placeholder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34440"/>
            <a:ext cx="667512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Chart / graph placeholder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2148840" y="4251960"/>
            <a:ext cx="438912" cy="10058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063240" y="3520440"/>
            <a:ext cx="438912" cy="17373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977639" y="2788920"/>
            <a:ext cx="438912" cy="246888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892040" y="2148840"/>
            <a:ext cx="438912" cy="31089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1325880"/>
            <a:ext cx="3200400" cy="320040"/>
          </a:xfrm>
          <a:prstGeom prst="rect">
            <a:avLst/>
          </a:prstGeom>
          <a:noFill/>
        </p:spPr>
        <p:txBody>
          <a:bodyPr wrap="none" lIns="0" rIns="0" anchor="t">
            <a:spAutoFit/>
          </a:bodyPr>
          <a:lstStyle/>
          <a:p>
            <a:r>
              <a:rPr sz="1600" b="1">
                <a:solidFill>
                  <a:srgbClr val="EA580C"/>
                </a:solidFill>
                <a:latin typeface="Inter"/>
              </a:rPr>
              <a:t>Key takeaway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0" y="1783080"/>
            <a:ext cx="3108960" cy="1280160"/>
          </a:xfrm>
          <a:prstGeom prst="rect">
            <a:avLst/>
          </a:prstGeom>
          <a:noFill/>
        </p:spPr>
        <p:txBody>
          <a:bodyPr wrap="none" lIns="0" rIns="0" anchor="t">
            <a:spAutoFit/>
          </a:bodyPr>
          <a:lstStyle/>
          <a:p>
            <a:r>
              <a:rPr sz="1500" b="0">
                <a:solidFill>
                  <a:srgbClr val="3B2416"/>
                </a:solidFill>
                <a:latin typeface="Inter"/>
              </a:rPr>
              <a:t>Summarize the signal in one sentence, then list the implications for the audience.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6446520"/>
            <a:ext cx="10104120" cy="2743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6510528"/>
            <a:ext cx="4572000" cy="228600"/>
          </a:xfrm>
          <a:prstGeom prst="rect">
            <a:avLst/>
          </a:prstGeom>
          <a:noFill/>
        </p:spPr>
        <p:txBody>
          <a:bodyPr wrap="none" lIns="0" rIns="0" anchor="t">
            <a:spAutoFit/>
          </a:bodyPr>
          <a:lstStyle/>
          <a:p>
            <a:r>
              <a:rPr sz="800" b="0">
                <a:solidFill>
                  <a:srgbClr val="7C4A2D"/>
                </a:solidFill>
                <a:latin typeface="Inter"/>
              </a:rPr>
              <a:t>Chart placeholder slide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051560"/>
            <a:ext cx="5303520" cy="685800"/>
          </a:xfrm>
          <a:prstGeom prst="rect">
            <a:avLst/>
          </a:prstGeom>
          <a:noFill/>
        </p:spPr>
        <p:txBody>
          <a:bodyPr wrap="none" lIns="0" rIns="0" anchor="t">
            <a:spAutoFit/>
          </a:bodyPr>
          <a:lstStyle/>
          <a:p>
            <a:r>
              <a:rPr sz="3800" b="1">
                <a:solidFill>
                  <a:srgbClr val="3B2416"/>
                </a:solidFill>
                <a:latin typeface="Inter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47088"/>
            <a:ext cx="5120640" cy="411480"/>
          </a:xfrm>
          <a:prstGeom prst="rect">
            <a:avLst/>
          </a:prstGeom>
          <a:noFill/>
        </p:spPr>
        <p:txBody>
          <a:bodyPr wrap="none" lIns="0" rIns="0" anchor="t">
            <a:spAutoFit/>
          </a:bodyPr>
          <a:lstStyle/>
          <a:p>
            <a:r>
              <a:rPr sz="1800" b="0">
                <a:solidFill>
                  <a:srgbClr val="7C4A2D"/>
                </a:solidFill>
                <a:latin typeface="Inter"/>
              </a:rPr>
              <a:t>Questions, discussion, and next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6766560" y="914400"/>
            <a:ext cx="4297680" cy="3291840"/>
          </a:xfrm>
          <a:prstGeom prst="rect">
            <a:avLst/>
          </a:prstGeom>
          <a:solidFill>
            <a:srgbClr val="FFEDD5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7C4A2D"/>
                </a:solidFill>
                <a:latin typeface="Inter"/>
              </a:rPr>
              <a:t>Closing visual placeholder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715000"/>
            <a:ext cx="4754880" cy="320040"/>
          </a:xfrm>
          <a:prstGeom prst="rect">
            <a:avLst/>
          </a:prstGeom>
          <a:noFill/>
        </p:spPr>
        <p:txBody>
          <a:bodyPr wrap="none" lIns="0" rIns="0" anchor="t">
            <a:spAutoFit/>
          </a:bodyPr>
          <a:lstStyle/>
          <a:p>
            <a:r>
              <a:rPr sz="1300" b="1">
                <a:solidFill>
                  <a:srgbClr val="EA580C"/>
                </a:solidFill>
                <a:latin typeface="Inter"/>
              </a:rPr>
              <a:t>contact@example.com  ·  company.com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46520"/>
            <a:ext cx="10104120" cy="2743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10528"/>
            <a:ext cx="4572000" cy="228600"/>
          </a:xfrm>
          <a:prstGeom prst="rect">
            <a:avLst/>
          </a:prstGeom>
          <a:noFill/>
        </p:spPr>
        <p:txBody>
          <a:bodyPr wrap="none" lIns="0" rIns="0" anchor="t">
            <a:spAutoFit/>
          </a:bodyPr>
          <a:lstStyle/>
          <a:p>
            <a:r>
              <a:rPr sz="800" b="0">
                <a:solidFill>
                  <a:srgbClr val="7C4A2D"/>
                </a:solidFill>
                <a:latin typeface="Inter"/>
              </a:rPr>
              <a:t>Closing / thanks slide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